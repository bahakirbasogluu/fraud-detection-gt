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C441C-1C1D-4966-BF04-34D9D3818E51}" v="1" dt="2026-05-13T18:29:33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ha KIRBASOGLU | PEAKUP" userId="37add050-8887-44f9-9c7d-471c13ca1efc" providerId="ADAL" clId="{CC76B5F3-E47B-43DE-A0C3-F81E09A2ADC4}"/>
    <pc:docChg chg="custSel mod addSld delSld modSld addMainMaster delMainMaster modMainMaster modNotesMaster setSldSz">
      <pc:chgData name="Baha KIRBASOGLU | PEAKUP" userId="37add050-8887-44f9-9c7d-471c13ca1efc" providerId="ADAL" clId="{CC76B5F3-E47B-43DE-A0C3-F81E09A2ADC4}" dt="2026-05-13T18:29:34.710" v="75" actId="1076"/>
      <pc:docMkLst>
        <pc:docMk/>
      </pc:docMkLst>
      <pc:sldChg chg="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56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6"/>
            <ac:spMk id="20" creationId="{00000000-0000-0000-0000-000000000000}"/>
          </ac:spMkLst>
        </pc:spChg>
      </pc:sldChg>
      <pc:sldChg chg="new del">
        <pc:chgData name="Baha KIRBASOGLU | PEAKUP" userId="37add050-8887-44f9-9c7d-471c13ca1efc" providerId="ADAL" clId="{CC76B5F3-E47B-43DE-A0C3-F81E09A2ADC4}" dt="2026-05-13T17:49:23.224" v="3" actId="47"/>
        <pc:sldMkLst>
          <pc:docMk/>
          <pc:sldMk cId="3275021692" sldId="256"/>
        </pc:sldMkLst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57"/>
        </pc:sldMkLst>
        <pc:spChg chg="mo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30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3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3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40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44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7:57:40" v="6" actId="26606"/>
          <ac:spMkLst>
            <pc:docMk/>
            <pc:sldMk cId="0" sldId="257"/>
            <ac:spMk id="51" creationId="{00000000-0000-0000-0000-000000000000}"/>
          </ac:spMkLst>
        </pc:spChg>
        <pc:spChg chg="add 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7"/>
            <ac:spMk id="52" creationId="{00000000-0000-0000-0000-000000000000}"/>
          </ac:spMkLst>
        </pc:spChg>
      </pc:sldChg>
      <pc:sldChg chg="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58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8"/>
            <ac:spMk id="10" creationId="{00000000-0000-0000-0000-000000000000}"/>
          </ac:spMkLst>
        </pc:sp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59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1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13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59"/>
            <ac:spMk id="14" creationId="{00000000-0000-0000-0000-000000000000}"/>
          </ac:spMkLst>
        </pc:spChg>
        <pc:picChg chg="add mod">
          <ac:chgData name="Baha KIRBASOGLU | PEAKUP" userId="37add050-8887-44f9-9c7d-471c13ca1efc" providerId="ADAL" clId="{CC76B5F3-E47B-43DE-A0C3-F81E09A2ADC4}" dt="2026-05-13T18:15:48.976" v="13" actId="1076"/>
          <ac:picMkLst>
            <pc:docMk/>
            <pc:sldMk cId="0" sldId="259"/>
            <ac:picMk id="17" creationId="{615A368D-E670-5D39-DEF2-4961DD77B230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0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10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0"/>
            <ac:spMk id="11" creationId="{00000000-0000-0000-0000-000000000000}"/>
          </ac:spMkLst>
        </pc:spChg>
        <pc:picChg chg="add">
          <ac:chgData name="Baha KIRBASOGLU | PEAKUP" userId="37add050-8887-44f9-9c7d-471c13ca1efc" providerId="ADAL" clId="{CC76B5F3-E47B-43DE-A0C3-F81E09A2ADC4}" dt="2026-05-13T18:28:36.526" v="45" actId="26606"/>
          <ac:picMkLst>
            <pc:docMk/>
            <pc:sldMk cId="0" sldId="260"/>
            <ac:picMk id="6" creationId="{00000000-0000-0000-0000-000000000000}"/>
          </ac:picMkLst>
        </pc:picChg>
        <pc:picChg chg="add mod">
          <ac:chgData name="Baha KIRBASOGLU | PEAKUP" userId="37add050-8887-44f9-9c7d-471c13ca1efc" providerId="ADAL" clId="{CC76B5F3-E47B-43DE-A0C3-F81E09A2ADC4}" dt="2026-05-13T18:16:05.727" v="18" actId="1076"/>
          <ac:picMkLst>
            <pc:docMk/>
            <pc:sldMk cId="0" sldId="260"/>
            <ac:picMk id="12" creationId="{E9F4E9BB-9767-9660-C231-C5DDC1A9BD0C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1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7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9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10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1"/>
            <ac:spMk id="11" creationId="{00000000-0000-0000-0000-000000000000}"/>
          </ac:spMkLst>
        </pc:spChg>
        <pc:picChg chg="add del mod replId">
          <ac:chgData name="Baha KIRBASOGLU | PEAKUP" userId="37add050-8887-44f9-9c7d-471c13ca1efc" providerId="ADAL" clId="{CC76B5F3-E47B-43DE-A0C3-F81E09A2ADC4}" dt="2026-05-13T18:28:36.526" v="45" actId="26606"/>
          <ac:picMkLst>
            <pc:docMk/>
            <pc:sldMk cId="0" sldId="261"/>
            <ac:picMk id="12" creationId="{7E924C97-4791-987E-7A06-F73A3AD6636B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2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5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1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2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3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4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17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2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2"/>
            <ac:spMk id="21" creationId="{00000000-0000-0000-0000-000000000000}"/>
          </ac:spMkLst>
        </pc:spChg>
        <pc:spChg chg="mod replId">
          <ac:chgData name="Baha KIRBASOGLU | PEAKUP" userId="37add050-8887-44f9-9c7d-471c13ca1efc" providerId="ADAL" clId="{CC76B5F3-E47B-43DE-A0C3-F81E09A2ADC4}" dt="2026-05-13T18:28:36.046" v="44" actId="26606"/>
          <ac:spMkLst>
            <pc:docMk/>
            <pc:sldMk cId="0" sldId="262"/>
            <ac:spMk id="23" creationId="{00000000-0000-0000-0000-000000000000}"/>
          </ac:spMkLst>
        </pc:sp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3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12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1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15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19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20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3"/>
            <ac:spMk id="21" creationId="{00000000-0000-0000-0000-000000000000}"/>
          </ac:spMkLst>
        </pc:spChg>
        <pc:picChg chg="add mod replId">
          <ac:chgData name="Baha KIRBASOGLU | PEAKUP" userId="37add050-8887-44f9-9c7d-471c13ca1efc" providerId="ADAL" clId="{CC76B5F3-E47B-43DE-A0C3-F81E09A2ADC4}" dt="2026-05-13T18:28:36.046" v="44" actId="26606"/>
          <ac:picMkLst>
            <pc:docMk/>
            <pc:sldMk cId="0" sldId="263"/>
            <ac:picMk id="22" creationId="{1BBE7B4D-416B-D4BF-5CB3-C38FD08A0C73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4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4"/>
            <ac:spMk id="10" creationId="{00000000-0000-0000-0000-000000000000}"/>
          </ac:spMkLst>
        </pc:spChg>
        <pc:picChg chg="add del mod">
          <ac:chgData name="Baha KIRBASOGLU | PEAKUP" userId="37add050-8887-44f9-9c7d-471c13ca1efc" providerId="ADAL" clId="{CC76B5F3-E47B-43DE-A0C3-F81E09A2ADC4}" dt="2026-05-13T18:28:36.526" v="45" actId="26606"/>
          <ac:picMkLst>
            <pc:docMk/>
            <pc:sldMk cId="0" sldId="264"/>
            <ac:picMk id="12" creationId="{DE1FB46D-71F3-4820-75A4-276C3AF4C954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5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14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15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5"/>
            <ac:spMk id="16" creationId="{00000000-0000-0000-0000-000000000000}"/>
          </ac:spMkLst>
        </pc:spChg>
        <pc:picChg chg="add mod">
          <ac:chgData name="Baha KIRBASOGLU | PEAKUP" userId="37add050-8887-44f9-9c7d-471c13ca1efc" providerId="ADAL" clId="{CC76B5F3-E47B-43DE-A0C3-F81E09A2ADC4}" dt="2026-05-13T18:17:07.567" v="34" actId="1076"/>
          <ac:picMkLst>
            <pc:docMk/>
            <pc:sldMk cId="0" sldId="265"/>
            <ac:picMk id="17" creationId="{50B6DDF3-9987-96A8-94F1-94A453B097B9}"/>
          </ac:picMkLst>
        </pc:picChg>
        <pc:picChg chg="add mod">
          <ac:chgData name="Baha KIRBASOGLU | PEAKUP" userId="37add050-8887-44f9-9c7d-471c13ca1efc" providerId="ADAL" clId="{CC76B5F3-E47B-43DE-A0C3-F81E09A2ADC4}" dt="2026-05-13T18:17:16.715" v="39" actId="1076"/>
          <ac:picMkLst>
            <pc:docMk/>
            <pc:sldMk cId="0" sldId="265"/>
            <ac:picMk id="19" creationId="{4412EF7D-2A03-E991-4737-5237CB4943D4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6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9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6"/>
            <ac:spMk id="11" creationId="{00000000-0000-0000-0000-000000000000}"/>
          </ac:spMkLst>
        </pc:spChg>
        <pc:picChg chg="add">
          <ac:chgData name="Baha KIRBASOGLU | PEAKUP" userId="37add050-8887-44f9-9c7d-471c13ca1efc" providerId="ADAL" clId="{CC76B5F3-E47B-43DE-A0C3-F81E09A2ADC4}" dt="2026-05-13T18:28:36.526" v="45" actId="26606"/>
          <ac:picMkLst>
            <pc:docMk/>
            <pc:sldMk cId="0" sldId="266"/>
            <ac:picMk id="8" creationId="{00000000-0000-0000-0000-000000000000}"/>
          </ac:picMkLst>
        </pc:picChg>
        <pc:picChg chg="add del mod">
          <ac:chgData name="Baha KIRBASOGLU | PEAKUP" userId="37add050-8887-44f9-9c7d-471c13ca1efc" providerId="ADAL" clId="{CC76B5F3-E47B-43DE-A0C3-F81E09A2ADC4}" dt="2026-05-13T18:28:36.526" v="45" actId="26606"/>
          <ac:picMkLst>
            <pc:docMk/>
            <pc:sldMk cId="0" sldId="266"/>
            <ac:picMk id="10" creationId="{B21D776A-EBA5-E70B-B9E5-846C5ABED88C}"/>
          </ac:picMkLst>
        </pc:pic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7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1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16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1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1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2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22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25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7"/>
            <ac:spMk id="27" creationId="{00000000-0000-0000-0000-000000000000}"/>
          </ac:spMkLst>
        </pc:spChg>
        <pc:spChg chg="mod replId">
          <ac:chgData name="Baha KIRBASOGLU | PEAKUP" userId="37add050-8887-44f9-9c7d-471c13ca1efc" providerId="ADAL" clId="{CC76B5F3-E47B-43DE-A0C3-F81E09A2ADC4}" dt="2026-05-13T18:28:36.046" v="44" actId="26606"/>
          <ac:spMkLst>
            <pc:docMk/>
            <pc:sldMk cId="0" sldId="267"/>
            <ac:spMk id="34" creationId="{00000000-0000-0000-0000-000000000000}"/>
          </ac:spMkLst>
        </pc:sp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8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7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13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16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17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8"/>
            <ac:spMk id="19" creationId="{00000000-0000-0000-0000-000000000000}"/>
          </ac:spMkLst>
        </pc:spChg>
        <pc:graphicFrameChg chg="mod replId">
          <ac:chgData name="Baha KIRBASOGLU | PEAKUP" userId="37add050-8887-44f9-9c7d-471c13ca1efc" providerId="ADAL" clId="{CC76B5F3-E47B-43DE-A0C3-F81E09A2ADC4}" dt="2026-05-13T18:28:36.046" v="44" actId="26606"/>
          <ac:graphicFrameMkLst>
            <pc:docMk/>
            <pc:sldMk cId="0" sldId="268"/>
            <ac:graphicFrameMk id="18" creationId="{00000000-0000-0000-0000-000000000000}"/>
          </ac:graphicFrameMkLst>
        </pc:graphicFrame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69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6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7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69"/>
            <ac:spMk id="10" creationId="{00000000-0000-0000-0000-000000000000}"/>
          </ac:spMkLst>
        </pc:spChg>
        <pc:graphicFrameChg chg="del">
          <ac:chgData name="Baha KIRBASOGLU | PEAKUP" userId="37add050-8887-44f9-9c7d-471c13ca1efc" providerId="ADAL" clId="{CC76B5F3-E47B-43DE-A0C3-F81E09A2ADC4}" dt="2026-05-13T18:28:36.526" v="45" actId="26606"/>
          <ac:graphicFrameMkLst>
            <pc:docMk/>
            <pc:sldMk cId="0" sldId="269"/>
            <ac:graphicFrameMk id="4" creationId="{00000000-0000-0000-0000-000000000000}"/>
          </ac:graphicFrameMkLst>
        </pc:graphicFrameChg>
        <pc:graphicFrameChg chg="add">
          <ac:chgData name="Baha KIRBASOGLU | PEAKUP" userId="37add050-8887-44f9-9c7d-471c13ca1efc" providerId="ADAL" clId="{CC76B5F3-E47B-43DE-A0C3-F81E09A2ADC4}" dt="2026-05-13T18:28:36.526" v="45" actId="26606"/>
          <ac:graphicFrameMkLst>
            <pc:docMk/>
            <pc:sldMk cId="0" sldId="269"/>
            <ac:graphicFrameMk id="15" creationId="{00000000-0000-0000-0000-000000000000}"/>
          </ac:graphicFrameMkLst>
        </pc:graphicFrame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0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7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9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1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12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13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0"/>
            <ac:spMk id="14" creationId="{00000000-0000-0000-0000-000000000000}"/>
          </ac:spMkLst>
        </pc:spChg>
      </pc:sldChg>
      <pc:sldChg chg="add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1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19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2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25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2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1"/>
            <ac:spMk id="27" creationId="{00000000-0000-0000-0000-000000000000}"/>
          </ac:spMkLst>
        </pc:sp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2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13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1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23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28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30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32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37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38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2"/>
            <ac:spMk id="41" creationId="{00000000-0000-0000-0000-000000000000}"/>
          </ac:spMkLst>
        </pc:spChg>
      </pc:sldChg>
      <pc:sldChg chg="addSp 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3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7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8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9" creationId="{00000000-0000-0000-0000-000000000000}"/>
          </ac:spMkLst>
        </pc:spChg>
        <pc:spChg chg="del mod replI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3"/>
            <ac:spMk id="10" creationId="{00000000-0000-0000-0000-000000000000}"/>
          </ac:spMkLst>
        </pc:spChg>
        <pc:graphicFrameChg chg="add">
          <ac:chgData name="Baha KIRBASOGLU | PEAKUP" userId="37add050-8887-44f9-9c7d-471c13ca1efc" providerId="ADAL" clId="{CC76B5F3-E47B-43DE-A0C3-F81E09A2ADC4}" dt="2026-05-13T18:28:36.526" v="45" actId="26606"/>
          <ac:graphicFrameMkLst>
            <pc:docMk/>
            <pc:sldMk cId="0" sldId="273"/>
            <ac:graphicFrameMk id="4" creationId="{00000000-0000-0000-0000-000000000000}"/>
          </ac:graphicFrameMkLst>
        </pc:graphicFrameChg>
      </pc:sldChg>
      <pc:sldChg chg="add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4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7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9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10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11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4"/>
            <ac:spMk id="12" creationId="{00000000-0000-0000-0000-000000000000}"/>
          </ac:spMkLst>
        </pc:spChg>
      </pc:sldChg>
      <pc:sldChg chg="add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5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5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8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3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4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5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5"/>
            <ac:spMk id="17" creationId="{00000000-0000-0000-0000-000000000000}"/>
          </ac:spMkLst>
        </pc:spChg>
      </pc:sldChg>
      <pc:sldChg chg="add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6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9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16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27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30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32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37" creationId="{00000000-0000-0000-0000-000000000000}"/>
          </ac:spMkLst>
        </pc:spChg>
        <pc:spChg chg="ad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6"/>
            <ac:spMk id="39" creationId="{00000000-0000-0000-0000-000000000000}"/>
          </ac:spMkLst>
        </pc:spChg>
      </pc:sldChg>
      <pc:sldChg chg="delSp modSp add mod modNotes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7"/>
        </pc:sldMkLst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2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3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4" creationId="{00000000-0000-0000-0000-000000000000}"/>
          </ac:spMkLst>
        </pc:spChg>
        <pc:spChg chg="mod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5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6" creationId="{00000000-0000-0000-0000-000000000000}"/>
          </ac:spMkLst>
        </pc:spChg>
        <pc:spChg chg="del">
          <ac:chgData name="Baha KIRBASOGLU | PEAKUP" userId="37add050-8887-44f9-9c7d-471c13ca1efc" providerId="ADAL" clId="{CC76B5F3-E47B-43DE-A0C3-F81E09A2ADC4}" dt="2026-05-13T18:28:36.526" v="45" actId="26606"/>
          <ac:spMkLst>
            <pc:docMk/>
            <pc:sldMk cId="0" sldId="277"/>
            <ac:spMk id="7" creationId="{00000000-0000-0000-0000-000000000000}"/>
          </ac:spMkLst>
        </pc:spChg>
      </pc:sldChg>
      <pc:sldChg chg="add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8"/>
        </pc:sldMkLst>
      </pc:sldChg>
      <pc:sldChg chg="add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79"/>
        </pc:sldMkLst>
      </pc:sldChg>
      <pc:sldChg chg="add">
        <pc:chgData name="Baha KIRBASOGLU | PEAKUP" userId="37add050-8887-44f9-9c7d-471c13ca1efc" providerId="ADAL" clId="{CC76B5F3-E47B-43DE-A0C3-F81E09A2ADC4}" dt="2026-05-13T18:28:36.526" v="45" actId="26606"/>
        <pc:sldMkLst>
          <pc:docMk/>
          <pc:sldMk cId="0" sldId="280"/>
        </pc:sldMkLst>
      </pc:sldChg>
      <pc:sldChg chg="modSp add mod">
        <pc:chgData name="Baha KIRBASOGLU | PEAKUP" userId="37add050-8887-44f9-9c7d-471c13ca1efc" providerId="ADAL" clId="{CC76B5F3-E47B-43DE-A0C3-F81E09A2ADC4}" dt="2026-05-13T18:29:34.710" v="75" actId="1076"/>
        <pc:sldMkLst>
          <pc:docMk/>
          <pc:sldMk cId="0" sldId="281"/>
        </pc:sldMkLst>
        <pc:spChg chg="mod">
          <ac:chgData name="Baha KIRBASOGLU | PEAKUP" userId="37add050-8887-44f9-9c7d-471c13ca1efc" providerId="ADAL" clId="{CC76B5F3-E47B-43DE-A0C3-F81E09A2ADC4}" dt="2026-05-13T18:29:34.710" v="75" actId="1076"/>
          <ac:spMkLst>
            <pc:docMk/>
            <pc:sldMk cId="0" sldId="281"/>
            <ac:spMk id="7" creationId="{00000000-0000-0000-0000-000000000000}"/>
          </ac:spMkLst>
        </pc:spChg>
      </pc:sldChg>
      <pc:sldMasterChg chg="add addSldLayout">
        <pc:chgData name="Baha KIRBASOGLU | PEAKUP" userId="37add050-8887-44f9-9c7d-471c13ca1efc" providerId="ADAL" clId="{CC76B5F3-E47B-43DE-A0C3-F81E09A2ADC4}" dt="2026-05-13T17:55:43.944" v="5" actId="26606"/>
        <pc:sldMasterMkLst>
          <pc:docMk/>
          <pc:sldMasterMk cId="0" sldId="2147483648"/>
        </pc:sldMasterMkLst>
        <pc:sldLayoutChg chg="add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Sp del mod replId delSldLayout modSldLayout">
        <pc:chgData name="Baha KIRBASOGLU | PEAKUP" userId="37add050-8887-44f9-9c7d-471c13ca1efc" providerId="ADAL" clId="{CC76B5F3-E47B-43DE-A0C3-F81E09A2ADC4}" dt="2026-05-13T17:55:43.944" v="5" actId="26606"/>
        <pc:sldMasterMkLst>
          <pc:docMk/>
          <pc:sldMasterMk cId="2663195492" sldId="2147483660"/>
        </pc:sldMasterMkLst>
        <pc:spChg chg="add">
          <ac:chgData name="Baha KIRBASOGLU | PEAKUP" userId="37add050-8887-44f9-9c7d-471c13ca1efc" providerId="ADAL" clId="{CC76B5F3-E47B-43DE-A0C3-F81E09A2ADC4}" dt="2026-05-13T17:16:37.107" v="0" actId="33475"/>
          <ac:spMkLst>
            <pc:docMk/>
            <pc:sldMasterMk cId="2663195492" sldId="2147483660"/>
            <ac:spMk id="8" creationId="{489EE254-14C7-5B30-6B3D-07E49957CCE2}"/>
          </ac:spMkLst>
        </pc:sp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1175983016" sldId="2147483650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3217764013" sldId="2147483651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4119820440" sldId="2147483652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3565832837" sldId="2147483653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4067886815" sldId="2147483654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4261594824" sldId="2147483655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3578963916" sldId="2147483656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3271394054" sldId="2147483657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1633029621" sldId="2147483658"/>
          </pc:sldLayoutMkLst>
        </pc:sldLayoutChg>
        <pc:sldLayoutChg chg="del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1011896176" sldId="2147483659"/>
          </pc:sldLayoutMkLst>
        </pc:sldLayoutChg>
        <pc:sldLayoutChg chg="del replId">
          <pc:chgData name="Baha KIRBASOGLU | PEAKUP" userId="37add050-8887-44f9-9c7d-471c13ca1efc" providerId="ADAL" clId="{CC76B5F3-E47B-43DE-A0C3-F81E09A2ADC4}" dt="2026-05-13T17:55:43.944" v="5" actId="26606"/>
          <pc:sldLayoutMkLst>
            <pc:docMk/>
            <pc:sldMasterMk cId="2663195492" sldId="2147483660"/>
            <pc:sldLayoutMk cId="26752603" sldId="2147483661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GAT</c:v>
                </c:pt>
                <c:pt idx="1">
                  <c:v>GraphSAGE</c:v>
                </c:pt>
                <c:pt idx="2">
                  <c:v>DOMINANT</c:v>
                </c:pt>
                <c:pt idx="3">
                  <c:v>GCN</c:v>
                </c:pt>
                <c:pt idx="4">
                  <c:v>RF-Centrality</c:v>
                </c:pt>
                <c:pt idx="5">
                  <c:v>Fiedler Score</c:v>
                </c:pt>
                <c:pt idx="6">
                  <c:v>Spectral Clustering</c:v>
                </c:pt>
                <c:pt idx="7">
                  <c:v>Isolation Forest</c:v>
                </c:pt>
                <c:pt idx="8">
                  <c:v>OCSVM</c:v>
                </c:pt>
                <c:pt idx="9">
                  <c:v>LOF</c:v>
                </c:pt>
                <c:pt idx="10">
                  <c:v>Ensemble</c:v>
                </c:pt>
                <c:pt idx="11">
                  <c:v>GMM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0.35859999999999997</c:v>
                </c:pt>
                <c:pt idx="1">
                  <c:v>0.5171</c:v>
                </c:pt>
                <c:pt idx="2">
                  <c:v>0.57079999999999997</c:v>
                </c:pt>
                <c:pt idx="3">
                  <c:v>0.61439999999999995</c:v>
                </c:pt>
                <c:pt idx="4">
                  <c:v>0.88390000000000002</c:v>
                </c:pt>
                <c:pt idx="5">
                  <c:v>0.8861</c:v>
                </c:pt>
                <c:pt idx="6">
                  <c:v>0.92210000000000003</c:v>
                </c:pt>
                <c:pt idx="7">
                  <c:v>0.9496</c:v>
                </c:pt>
                <c:pt idx="8">
                  <c:v>0.95140000000000002</c:v>
                </c:pt>
                <c:pt idx="9">
                  <c:v>0.95320000000000005</c:v>
                </c:pt>
                <c:pt idx="10">
                  <c:v>0.95350000000000001</c:v>
                </c:pt>
                <c:pt idx="11">
                  <c:v>0.95879999999999999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B7-4373-9155-16FF146B13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22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GraphSAGE</c:v>
                </c:pt>
                <c:pt idx="1">
                  <c:v>RF-Centrality</c:v>
                </c:pt>
                <c:pt idx="2">
                  <c:v>GAT</c:v>
                </c:pt>
                <c:pt idx="3">
                  <c:v>OCSVM</c:v>
                </c:pt>
                <c:pt idx="4">
                  <c:v>DOMINANT</c:v>
                </c:pt>
                <c:pt idx="5">
                  <c:v>Spectral Clustering</c:v>
                </c:pt>
                <c:pt idx="6">
                  <c:v>Ensemble</c:v>
                </c:pt>
                <c:pt idx="7">
                  <c:v>GMM</c:v>
                </c:pt>
                <c:pt idx="8">
                  <c:v>LOF</c:v>
                </c:pt>
                <c:pt idx="9">
                  <c:v>Isolation Forest</c:v>
                </c:pt>
                <c:pt idx="10">
                  <c:v>Fiedler Score</c:v>
                </c:pt>
                <c:pt idx="11">
                  <c:v>GCN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0.43090000000000001</c:v>
                </c:pt>
                <c:pt idx="1">
                  <c:v>0.43319999999999997</c:v>
                </c:pt>
                <c:pt idx="2">
                  <c:v>0.43609999999999999</c:v>
                </c:pt>
                <c:pt idx="3">
                  <c:v>0.52610000000000001</c:v>
                </c:pt>
                <c:pt idx="4">
                  <c:v>0.55089999999999995</c:v>
                </c:pt>
                <c:pt idx="5">
                  <c:v>0.57789999999999997</c:v>
                </c:pt>
                <c:pt idx="6">
                  <c:v>0.59740000000000004</c:v>
                </c:pt>
                <c:pt idx="7">
                  <c:v>0.59770000000000001</c:v>
                </c:pt>
                <c:pt idx="8">
                  <c:v>0.60429999999999995</c:v>
                </c:pt>
                <c:pt idx="9">
                  <c:v>0.60809999999999997</c:v>
                </c:pt>
                <c:pt idx="10">
                  <c:v>0.60960000000000003</c:v>
                </c:pt>
                <c:pt idx="11">
                  <c:v>0.6139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F3-431E-9E0F-C717A2D74C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3"/>
        </c:scaling>
        <c:delete val="0"/>
        <c:axPos val="b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5223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47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7589520" y="6400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955280" y="640080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321040" y="6400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6858000" y="4206240"/>
            <a:ext cx="365760" cy="1371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7498080" y="3886200"/>
            <a:ext cx="365760" cy="1371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7132320" y="4434840"/>
            <a:ext cx="365760" cy="1371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7955280" y="4160520"/>
            <a:ext cx="365760" cy="1371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229600" y="4572000"/>
            <a:ext cx="365760" cy="1371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6784848" y="41330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7424928" y="381304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7059168" y="43616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882128" y="408736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156448" y="449884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1508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via Graph Theory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008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Classical, Spectral,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Neural Graph Methods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137160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 Kirbasoglu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Graph Theory — Term Project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 Theory for Fraud Detection?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Traditional ML treats every transaction or provider as an isolated observation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Fraud is inherently relational: fraud rings, collusion networks, and coordinated billing are structural phenomena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Graph-theoretic methods encode these relationships explicitly as edges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Key question: do structural signals in transaction graphs improve fraud detection performance?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77840" y="1417320"/>
            <a:ext cx="3108960" cy="14630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66928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4A3B8"/>
                </a:solidFill>
              </a:rPr>
              <a:t>TABULAR 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15000" y="1783080"/>
            <a:ext cx="2834640" cy="201168"/>
          </a:xfrm>
          <a:prstGeom prst="rect">
            <a:avLst/>
          </a:prstGeom>
          <a:solidFill>
            <a:srgbClr val="1E3050"/>
          </a:solidFill>
          <a:ln w="635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751576" y="1783080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54496" y="178308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Amount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31736" y="178308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808976" y="178308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984248"/>
            <a:ext cx="2834640" cy="201168"/>
          </a:xfrm>
          <a:prstGeom prst="rect">
            <a:avLst/>
          </a:prstGeom>
          <a:solidFill>
            <a:srgbClr val="152238"/>
          </a:solidFill>
          <a:ln w="635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751576" y="1984248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54496" y="198424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$ 84.20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31736" y="198424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08976" y="1984248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•••2341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185416"/>
            <a:ext cx="2834640" cy="201168"/>
          </a:xfrm>
          <a:prstGeom prst="rect">
            <a:avLst/>
          </a:prstGeom>
          <a:solidFill>
            <a:srgbClr val="1E3050"/>
          </a:solidFill>
          <a:ln w="635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5751576" y="2185416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54496" y="218541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$ 22.10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31736" y="218541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08976" y="218541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•••8821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386584"/>
            <a:ext cx="2834640" cy="201168"/>
          </a:xfrm>
          <a:prstGeom prst="rect">
            <a:avLst/>
          </a:prstGeom>
          <a:solidFill>
            <a:srgbClr val="152238"/>
          </a:solidFill>
          <a:ln w="635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5751576" y="2386584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238658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$417.00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31736" y="238658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08976" y="2386584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•••0193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2587752"/>
            <a:ext cx="2834640" cy="201168"/>
          </a:xfrm>
          <a:prstGeom prst="rect">
            <a:avLst/>
          </a:prstGeom>
          <a:solidFill>
            <a:srgbClr val="1E3050"/>
          </a:solidFill>
          <a:ln w="6350">
            <a:solidFill>
              <a:srgbClr val="0B192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5751576" y="2587752"/>
            <a:ext cx="466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54496" y="25877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9.99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31736" y="25877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08976" y="25877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•••5547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017520"/>
            <a:ext cx="3108960" cy="16916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669280" y="3063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4B8A6"/>
                </a:solidFill>
              </a:rPr>
              <a:t>GRAPH VIEW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 flipV="1">
            <a:off x="6035040" y="3520440"/>
            <a:ext cx="457200" cy="1371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6492240" y="3520440"/>
            <a:ext cx="457200" cy="2286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6492240" y="3520440"/>
            <a:ext cx="9144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 flipH="1">
            <a:off x="6126480" y="4069080"/>
            <a:ext cx="36576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6035040" y="3657600"/>
            <a:ext cx="91440" cy="5943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Shape 37"/>
          <p:cNvSpPr/>
          <p:nvPr/>
        </p:nvSpPr>
        <p:spPr>
          <a:xfrm flipH="1">
            <a:off x="6492240" y="3749040"/>
            <a:ext cx="45720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7680960" y="3657600"/>
            <a:ext cx="365760" cy="36576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 flipH="1">
            <a:off x="7863840" y="4023360"/>
            <a:ext cx="182880" cy="36576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680960" y="3657600"/>
            <a:ext cx="182880" cy="73152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Shape 41"/>
          <p:cNvSpPr/>
          <p:nvPr/>
        </p:nvSpPr>
        <p:spPr>
          <a:xfrm>
            <a:off x="5961888" y="358444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6419088" y="344728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6876288" y="367588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419088" y="399592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7" name="Shape 45"/>
          <p:cNvSpPr/>
          <p:nvPr/>
        </p:nvSpPr>
        <p:spPr>
          <a:xfrm>
            <a:off x="6053328" y="417880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Shape 46"/>
          <p:cNvSpPr/>
          <p:nvPr/>
        </p:nvSpPr>
        <p:spPr>
          <a:xfrm>
            <a:off x="7607808" y="358444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9" name="Shape 47"/>
          <p:cNvSpPr/>
          <p:nvPr/>
        </p:nvSpPr>
        <p:spPr>
          <a:xfrm>
            <a:off x="7973568" y="395020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Shape 48"/>
          <p:cNvSpPr/>
          <p:nvPr/>
        </p:nvSpPr>
        <p:spPr>
          <a:xfrm>
            <a:off x="7790688" y="431596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1" name="Text 49"/>
          <p:cNvSpPr/>
          <p:nvPr/>
        </p:nvSpPr>
        <p:spPr>
          <a:xfrm>
            <a:off x="7498080" y="45262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</a:rPr>
              <a:t>fraud ring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28600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91440" cy="228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463040" y="15087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entities form structurally distinct communities in transaction graphs, and graph-theoretic methods — including centrality-based classification, spectral analysis, and graph neural networks — outperform tabular anomaly detection on relational fraud data, particularly for Medicare provider-level fraud.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Two datasets tested: Credit Card transactions (European cardholders) and Medicare provider prescribing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Direct comparison against tabular ML baselines from a companion project (BLG607 Data Mining)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929"/>
                </a:solidFill>
              </a:rPr>
              <a:t>Credit Card Fraud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794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Source: ULB Kaggle (European cardholders, Sept 2013)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284,807 transactions, 492 fraudulent (0.172%)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Features: 28 PCA components + Amount + 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Graph subset: 50,000 nodes (stratified)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929"/>
                </a:solidFill>
              </a:rPr>
              <a:t>Medicare Provider Fraud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2011680"/>
            <a:ext cx="37947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Source: CMS Part D 2017–2019 + OIG LEIE ground truth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7,701 unique providers, 137 fraudulent (1.78%)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Raw data: ~11.9 GB (6 million rows sampled)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Fraud label: OIG List of Excluded Individuals/Entities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Exploratory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class imbalance, amount distribution, and feature correlations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/agent/turn3/workspace/imgs/cc_e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92808"/>
            <a:ext cx="8083296" cy="20208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4370832"/>
            <a:ext cx="808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Credit Card Fraud Dataset — class distribution, transaction amounts, and feature correlations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— Credit Card K-NN Similarity Graph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Each transaction is a node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Edges connect transactions that are cosine-similar in 28-dim PCA feature space (k = 10 nearest neighbors)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Resulting graph: 50,000 nodes, 347,127 edges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Rationale: fraudulent transactions cluster in feature space; K-NN graph makes this structure explicit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4572000" cy="77724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38862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7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ᵢⱼ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  iff  </a:t>
            </a:r>
            <a:r>
              <a:rPr lang="en-US" sz="1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∈ k-NN(i)</a:t>
            </a: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 </a:t>
            </a:r>
            <a:r>
              <a:rPr lang="en-US" sz="17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∈ k-NN(j)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347472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/agent/turn3/workspace/imgs/cc_fraud_sub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554194"/>
            <a:ext cx="3328416" cy="2652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85232" y="4370832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Credit Card fraud ego-subgraph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— Medicare Provider-Drug Bipartite Projection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4B8A6"/>
                </a:solidFill>
              </a:rPr>
              <a:t>Step 1: </a:t>
            </a:r>
            <a:r>
              <a:rPr lang="en-US" sz="1400" dirty="0">
                <a:solidFill>
                  <a:srgbClr val="FFFFFF"/>
                </a:solidFill>
              </a:rPr>
              <a:t>Build bipartite graph B — providers and drugs as two node sets; edge = prescription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4B8A6"/>
                </a:solidFill>
              </a:rPr>
              <a:t>Step 2: </a:t>
            </a:r>
            <a:r>
              <a:rPr lang="en-US" sz="1400" dirty="0">
                <a:solidFill>
                  <a:srgbClr val="FFFFFF"/>
                </a:solidFill>
              </a:rPr>
              <a:t>Project onto provider layer — edge between p₁ and p₂ if they share ≥ 5 drugs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</a:rPr>
              <a:t>Challenge: </a:t>
            </a:r>
            <a:r>
              <a:rPr lang="en-US" sz="1400" dirty="0">
                <a:solidFill>
                  <a:srgbClr val="FFFFFF"/>
                </a:solidFill>
              </a:rPr>
              <a:t>hub drugs (&gt; 25% of providers) would create ~334M edges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C55E"/>
                </a:solidFill>
              </a:rPr>
              <a:t>Solution: </a:t>
            </a:r>
            <a:r>
              <a:rPr lang="en-US" sz="1400" dirty="0">
                <a:solidFill>
                  <a:srgbClr val="FFFFFF"/>
                </a:solidFill>
              </a:rPr>
              <a:t>remove hub drugs before projection; cap neighborhood at K = 25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D4FF"/>
                </a:solidFill>
              </a:rPr>
              <a:t>Result: </a:t>
            </a:r>
            <a:r>
              <a:rPr lang="en-US" sz="1400" dirty="0">
                <a:solidFill>
                  <a:srgbClr val="FFFFFF"/>
                </a:solidFill>
              </a:rPr>
              <a:t>7,701 nodes, 113,350 edges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429000"/>
            <a:ext cx="8229600" cy="132588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/agent/turn3/workspace/imgs/medicare_graph_co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14" y="3502152"/>
            <a:ext cx="2952172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4462272"/>
            <a:ext cx="808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Medicare provider graph analysis — degree distribution and edge weights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Evaluated: Four Categories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8016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13232" y="1371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A3B8"/>
                </a:solidFill>
              </a:rPr>
              <a:t>Tabular-ML Baseline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OCSVM · GMM · Isolation Forest · LOF · Ensemble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28016" cy="594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13232" y="2084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Graph-Classical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08483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Centrality features (PageRank, Betweenness, Clustering, …) + Random Forest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8229600" cy="5943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128016" cy="594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13232" y="279806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Graph-Spectral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279806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Fiedler vector anomaly score · Spectral Clustering (k = 10)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8229600" cy="5943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128016" cy="59436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13232" y="3511296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</a:rPr>
              <a:t>Graph-GNN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351129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GCN · GraphSAGE · GAT (supervised); DOMINANT (unsupervised)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Note: All methods evaluated on the same datasets with identical train/val/test splits (70/10/20, stratified).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Graph Analysis: Centrality and Community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Six centrality measures per node: degree, PageRank, betweenness, closeness, eigenvector, clustering coefficient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Centrality vector used as input to a balanced Random Forest classifier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</a:rPr>
              <a:t>Community detection via Louvain algorithm (modularity optimization)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169164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128016" cy="1691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Key finding — Credit Card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 0: </a:t>
            </a:r>
            <a:r>
              <a:rPr lang="en-US" sz="1400" dirty="0">
                <a:solidFill>
                  <a:srgbClr val="FFFFFF"/>
                </a:solidFill>
              </a:rPr>
              <a:t>396 nodes, 383 fraudulent — </a:t>
            </a:r>
            <a:r>
              <a:rPr lang="en-US" sz="1400" b="1" dirty="0">
                <a:solidFill>
                  <a:srgbClr val="00D4FF"/>
                </a:solidFill>
              </a:rPr>
              <a:t>96.7% internal fraud rate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Strong evidence that fraud forms structurally cohesive subgraphs detectable without supervision.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— Fraud Concentration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Per-community fraud rate distribution (Credit Card vs Medicare)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24612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6" name="Image 0" descr="/agent/turn3/workspace/imgs/community_fraud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61267"/>
            <a:ext cx="8083296" cy="26839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4370832"/>
            <a:ext cx="808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Community Detection: Fraud Concentration per Community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Methods: Laplacian Eigenanalysis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</a:rPr>
              <a:t>Normalized Laplacian: </a:t>
            </a: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D⁻¹ᐟ²(D − A)D⁻¹ᐟ²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</a:rPr>
              <a:t>Eigenvalues: 0 = λ₁ ≤ λ₂ ≤ …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D4FF"/>
                </a:solidFill>
              </a:rPr>
              <a:t>Fiedler value λ₂ </a:t>
            </a:r>
            <a:r>
              <a:rPr lang="en-US" sz="1400" dirty="0">
                <a:solidFill>
                  <a:srgbClr val="FFFFFF"/>
                </a:solidFill>
              </a:rPr>
              <a:t>(algebraic connectivity): how easily the graph splits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• Credit Card: λ₂ = 0.000619 (low — easily partitioned)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  • Medicare:    λ₂ = 0.013493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D4FF"/>
                </a:solidFill>
              </a:rPr>
              <a:t>Fiedler vector </a:t>
            </a:r>
            <a:r>
              <a:rPr lang="en-US" sz="1400" dirty="0">
                <a:solidFill>
                  <a:srgbClr val="FFFFFF"/>
                </a:solidFill>
              </a:rPr>
              <a:t>(eigenvector of λ₂): optimal bisection; used as anomaly score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D4FF"/>
                </a:solidFill>
              </a:rPr>
              <a:t>Spectral clustering: </a:t>
            </a:r>
            <a:r>
              <a:rPr lang="en-US" sz="1400" dirty="0">
                <a:solidFill>
                  <a:srgbClr val="FFFFFF"/>
                </a:solidFill>
              </a:rPr>
              <a:t>K-means on bottom-k eigenvectors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4754880" cy="50292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4251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</a:rPr>
              <a:t>GCN connection: </a:t>
            </a:r>
            <a:r>
              <a:rPr lang="en-US" sz="1400" dirty="0">
                <a:solidFill>
                  <a:srgbClr val="FFFFFF"/>
                </a:solidFill>
              </a:rPr>
              <a:t>a GCN layer ≈ first-order Chebyshev spectral convolution.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94960" y="1371600"/>
            <a:ext cx="3291840" cy="338328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8" name="Image 0" descr="/agent/turn3/workspace/imgs/spectral_eigen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1951244"/>
            <a:ext cx="3145536" cy="22239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Results — Credit Card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929"/>
                </a:solidFill>
              </a:rPr>
              <a:t>Credit Card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Fiedler Anomaly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AUC-ROC = </a:t>
            </a:r>
            <a:r>
              <a:rPr lang="en-US" sz="1400" b="1" dirty="0">
                <a:solidFill>
                  <a:srgbClr val="00D4FF"/>
                </a:solidFill>
              </a:rPr>
              <a:t>0.8861</a:t>
            </a:r>
            <a:r>
              <a:rPr lang="en-US" sz="1400" dirty="0">
                <a:solidFill>
                  <a:srgbClr val="94A3B8"/>
                </a:solidFill>
              </a:rPr>
              <a:t>    AUC-PRC = </a:t>
            </a:r>
            <a:r>
              <a:rPr lang="en-US" sz="1400" b="1" dirty="0">
                <a:solidFill>
                  <a:srgbClr val="00D4FF"/>
                </a:solidFill>
              </a:rPr>
              <a:t>0.7880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Spectral Clustering (k = 10)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AUC-ROC = </a:t>
            </a:r>
            <a:r>
              <a:rPr lang="en-US" sz="1400" b="1" dirty="0">
                <a:solidFill>
                  <a:srgbClr val="14B8A6"/>
                </a:solidFill>
              </a:rPr>
              <a:t>0.9221</a:t>
            </a:r>
            <a:r>
              <a:rPr lang="en-US" sz="1400" dirty="0">
                <a:solidFill>
                  <a:srgbClr val="94A3B8"/>
                </a:solidFill>
              </a:rPr>
              <a:t>    AUC-PRC = </a:t>
            </a:r>
            <a:r>
              <a:rPr lang="en-US" sz="1400" b="1" dirty="0">
                <a:solidFill>
                  <a:srgbClr val="14B8A6"/>
                </a:solidFill>
              </a:rPr>
              <a:t>0.7489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14B8A6"/>
                </a:solidFill>
              </a:rPr>
              <a:t>Best graph method overall on this dataset.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457200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/agent/turn3/workspace/imgs/cc_fied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201811"/>
            <a:ext cx="4425696" cy="13570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87952" y="4370832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Credit Card — Fiedler distribution and anomaly score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Results — Medicare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47472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929"/>
                </a:solidFill>
              </a:rPr>
              <a:t>Medicare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2004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Fiedler Anomaly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AUC-ROC = </a:t>
            </a:r>
            <a:r>
              <a:rPr lang="en-US" sz="1400" b="1" dirty="0">
                <a:solidFill>
                  <a:srgbClr val="00D4FF"/>
                </a:solidFill>
              </a:rPr>
              <a:t>0.6096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2C55E"/>
                </a:solidFill>
              </a:rPr>
              <a:t>(exceeds tabular baseline)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Spectral Clustering (k = 10)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AUC-ROC = </a:t>
            </a:r>
            <a:r>
              <a:rPr lang="en-US" sz="1400" b="1" dirty="0">
                <a:solidFill>
                  <a:srgbClr val="00D4FF"/>
                </a:solidFill>
              </a:rPr>
              <a:t>0.5779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</a:rPr>
              <a:t>Fiedler score outperforms spectral clustering here.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4572000" cy="329184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9" name="Image 0" descr="/agent/turn3/workspace/imgs/medicare_fied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952" y="2201811"/>
            <a:ext cx="4425696" cy="13570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87952" y="4370832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Medicare — Fiedler distribution and anomaly score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Networks: Architectures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9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9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Mechanism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9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B19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adjacency aggregation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neighbor sampling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→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Learned attention (4 heads)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8×4 → 32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+ structure recon. (unsup.)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All supervised models trained with BCELoss, class-weighted to address imbalance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Input features: 7 centrality measures (no raw transaction features)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Framework: PyTorch Geometric 2.7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Training Curves — Credit Card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3375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pic>
        <p:nvPicPr>
          <p:cNvPr id="5" name="Image 0" descr="/agent/turn3/workspace/imgs/cc_gnn_trai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61267"/>
            <a:ext cx="8083296" cy="2683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4416552"/>
            <a:ext cx="8083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Training loss and validation AUC-ROC across GCN, GraphSAGE, GAT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Networks: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929"/>
                </a:solidFill>
              </a:rPr>
              <a:t>Credit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GCN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0.6144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GraphSAGE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0.5171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880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0.3586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08960" y="2880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(worst)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DOMINANT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0.5708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08960" y="33832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(21 min train)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929"/>
                </a:solidFill>
              </a:rPr>
              <a:t>Medicare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874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GCN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</a:rPr>
              <a:t>0.6139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0" y="1874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2C55E"/>
                </a:solidFill>
              </a:rPr>
              <a:t>(highest overall)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377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0.4361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46320" y="2880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GraphSAGE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8803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0.4309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33832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DOMINANT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383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0.5509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457200" y="4251960"/>
            <a:ext cx="128016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73152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Key observation: </a:t>
            </a:r>
            <a:r>
              <a:rPr lang="en-US" sz="1400" dirty="0">
                <a:solidFill>
                  <a:srgbClr val="FFFFFF"/>
                </a:solidFill>
              </a:rPr>
              <a:t>GNNs underperformed spectral methods on Credit Card despite greater architectural complexity.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 — Credit Card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0" y="1783080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6812280" y="17190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Tabular-ML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2112264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81228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Graph-Spectral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2441448"/>
            <a:ext cx="164592" cy="16459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812280" y="2377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Graph-Classical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0" y="2770632"/>
            <a:ext cx="164592" cy="164592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6812280" y="2706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Graph-GNN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200400"/>
            <a:ext cx="2103120" cy="155448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67512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9E0B"/>
                </a:solidFill>
              </a:rPr>
              <a:t>Bottom line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Best graph: </a:t>
            </a:r>
            <a:r>
              <a:rPr lang="en-US" sz="1400" b="1" dirty="0">
                <a:solidFill>
                  <a:srgbClr val="00D4FF"/>
                </a:solidFill>
              </a:rPr>
              <a:t>0.9221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Best tabular: </a:t>
            </a:r>
            <a:r>
              <a:rPr lang="en-US" sz="1400" b="1" dirty="0">
                <a:solidFill>
                  <a:srgbClr val="FFFFFF"/>
                </a:solidFill>
              </a:rPr>
              <a:t>0.9588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Gap: </a:t>
            </a:r>
            <a:r>
              <a:rPr lang="en-US" sz="1400" b="1" dirty="0">
                <a:solidFill>
                  <a:srgbClr val="EF4444"/>
                </a:solidFill>
              </a:rPr>
              <a:t>−3.8%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 — Medicare Dataset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943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371600"/>
            <a:ext cx="2103120" cy="164592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3"/>
          <p:cNvSpPr/>
          <p:nvPr/>
        </p:nvSpPr>
        <p:spPr>
          <a:xfrm>
            <a:off x="6675120" y="141732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2C55E"/>
                </a:solidFill>
              </a:rPr>
              <a:t>Winner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GCN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AUC-ROC </a:t>
            </a:r>
            <a:r>
              <a:rPr lang="en-US" sz="1600" b="1" dirty="0">
                <a:solidFill>
                  <a:srgbClr val="22C55E"/>
                </a:solidFill>
              </a:rPr>
              <a:t>0.6139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94A3B8"/>
                </a:solidFill>
              </a:rPr>
              <a:t>Highest among all methods on Medicare.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583680" y="3200400"/>
            <a:ext cx="2103120" cy="1554480"/>
          </a:xfrm>
          <a:prstGeom prst="rect">
            <a:avLst/>
          </a:prstGeom>
          <a:solidFill>
            <a:srgbClr val="1E3050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667512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2C55E"/>
                </a:solidFill>
              </a:rPr>
              <a:t>Bottom line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Best graph: </a:t>
            </a:r>
            <a:r>
              <a:rPr lang="en-US" sz="1400" b="1" dirty="0">
                <a:solidFill>
                  <a:srgbClr val="22C55E"/>
                </a:solidFill>
              </a:rPr>
              <a:t>0.6139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Best tabular: </a:t>
            </a:r>
            <a:r>
              <a:rPr lang="en-US" sz="1400" b="1" dirty="0">
                <a:solidFill>
                  <a:srgbClr val="FFFFFF"/>
                </a:solidFill>
              </a:rPr>
              <a:t>0.6081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Gain: </a:t>
            </a:r>
            <a:r>
              <a:rPr lang="en-US" sz="1400" b="1" dirty="0">
                <a:solidFill>
                  <a:srgbClr val="22C55E"/>
                </a:solidFill>
              </a:rPr>
              <a:t>+0.95%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18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Hypothesis Supported?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3375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Credit Card — NOT SUPPORTED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Best graph (Spectral Clustering): </a:t>
            </a:r>
            <a:r>
              <a:rPr lang="en-US" sz="1500" b="1" dirty="0">
                <a:solidFill>
                  <a:srgbClr val="FFFFFF"/>
                </a:solidFill>
              </a:rPr>
              <a:t>0.9221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Best tabular (GMM): </a:t>
            </a:r>
            <a:r>
              <a:rPr lang="en-US" sz="1500" b="1" dirty="0">
                <a:solidFill>
                  <a:srgbClr val="FFFFFF"/>
                </a:solidFill>
              </a:rPr>
              <a:t>0.9588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Relative gap: </a:t>
            </a:r>
            <a:r>
              <a:rPr lang="en-US" sz="1500" b="1" dirty="0">
                <a:solidFill>
                  <a:srgbClr val="EF4444"/>
                </a:solidFill>
              </a:rPr>
              <a:t>−3.83%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59E0B"/>
                </a:solidFill>
              </a:rPr>
              <a:t>Reason: </a:t>
            </a:r>
            <a:r>
              <a:rPr lang="en-US" sz="1400" dirty="0">
                <a:solidFill>
                  <a:srgbClr val="FFFFFF"/>
                </a:solidFill>
              </a:rPr>
              <a:t>PCA preprocessing removed relational structure; edges encode proximity in compressed feature space, not semantic transaction similarity.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333756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929"/>
                </a:solidFill>
              </a:rPr>
              <a:t>Medicare — MARGINALLY SUPPORTED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Best graph (GCN): </a:t>
            </a:r>
            <a:r>
              <a:rPr lang="en-US" sz="1500" b="1" dirty="0">
                <a:solidFill>
                  <a:srgbClr val="FFFFFF"/>
                </a:solidFill>
              </a:rPr>
              <a:t>0.6139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Best tabular (Isolation Forest): </a:t>
            </a:r>
            <a:r>
              <a:rPr lang="en-US" sz="1500" b="1" dirty="0">
                <a:solidFill>
                  <a:srgbClr val="FFFFFF"/>
                </a:solidFill>
              </a:rPr>
              <a:t>0.6081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</a:rPr>
              <a:t>Absolute improvement: </a:t>
            </a:r>
            <a:r>
              <a:rPr lang="en-US" sz="1500" b="1" dirty="0">
                <a:solidFill>
                  <a:srgbClr val="22C55E"/>
                </a:solidFill>
              </a:rPr>
              <a:t>+0.0058 (+0.95%)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B8A6"/>
                </a:solidFill>
              </a:rPr>
              <a:t>Reason: </a:t>
            </a:r>
            <a:r>
              <a:rPr lang="en-US" sz="1400" dirty="0">
                <a:solidFill>
                  <a:srgbClr val="FFFFFF"/>
                </a:solidFill>
              </a:rPr>
              <a:t>Bipartite projection encodes domain knowledge; shared prescribing patterns directly relate to provider-level fraud.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Spectral Methods Outperform GNNs?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8016" cy="7132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B8A6"/>
                </a:solidFill>
              </a:rPr>
              <a:t>Global vs. local 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1371600"/>
            <a:ext cx="5532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Spectral clustering operates on global graph topology, capturing macro-level partitions across all 50,000 nodes simultaneously.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8229600" cy="713232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128016" cy="7132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731520" y="217627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</a:rPr>
              <a:t>Weak local signal for GNNs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2176272"/>
            <a:ext cx="5532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GNNs aggregate local neighborhoods; with centrality-only inputs, local neighborhoods in a PCA-derived graph carry limited discriminative signal.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8229600" cy="713232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28016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731520" y="2980944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Training instability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2980944"/>
            <a:ext cx="5532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With 0.17% fraud rate (492 vs. 49,508), GNN optimization may converge to degenerate majority-class solutions despite class weighting.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8229600" cy="713232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128016" cy="71323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731520" y="3785616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</a:rPr>
              <a:t>Unsupervised wins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63240" y="3785616"/>
            <a:ext cx="5532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The 96.7% fraud-rate Louvain community was detected without supervision — spectral structure is stronger than the label signal available to GNNs.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20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 Quality is Decisive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The most important design decision was how to build the graph from tabular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Credit Card: K-NN in PCA space — weak prior; edges may not encode fraud-relevant relationships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Medicare: bipartite provider-drug projection — strong prior; edges encode shared prescribing behavior (the domain definition of collusion)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A graph that encodes domain knowledge provides far more useful structure than a generic similarity graph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Hub-drug removal was critical: without it, 334 million edges would have eliminated all structural signal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160020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576072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F4444"/>
                </a:solidFill>
              </a:rPr>
              <a:t>WEAK PRIOR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0" y="17099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K-NN in PCA space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537960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7132320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7726680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5943600" y="251460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537960" y="251460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132320" y="251460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7726680" y="251460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5760720" y="3108960"/>
            <a:ext cx="2926080" cy="1600200"/>
          </a:xfrm>
          <a:prstGeom prst="rect">
            <a:avLst/>
          </a:prstGeom>
          <a:solidFill>
            <a:srgbClr val="152238"/>
          </a:solidFill>
          <a:ln w="9525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5760720" y="3154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2C55E"/>
                </a:solidFill>
              </a:rPr>
              <a:t>STRONG PRIOR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4472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</a:rPr>
              <a:t>Bipartite domain projection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6126480" y="3886200"/>
            <a:ext cx="27432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137160" cy="27432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365760" cy="3200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 flipH="1">
            <a:off x="6263640" y="3886200"/>
            <a:ext cx="137160" cy="3657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6400800" y="3886200"/>
            <a:ext cx="91440" cy="4114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6263640" y="4251960"/>
            <a:ext cx="228600" cy="4572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 flipV="1">
            <a:off x="7680960" y="3931920"/>
            <a:ext cx="274320" cy="914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7680960" y="4023360"/>
            <a:ext cx="457200" cy="27432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Shape 25"/>
          <p:cNvSpPr/>
          <p:nvPr/>
        </p:nvSpPr>
        <p:spPr>
          <a:xfrm>
            <a:off x="7680960" y="4023360"/>
            <a:ext cx="182880" cy="32004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7955280" y="3931920"/>
            <a:ext cx="182880" cy="36576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 flipH="1">
            <a:off x="7863840" y="3931920"/>
            <a:ext cx="91440" cy="41148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 flipH="1">
            <a:off x="7863840" y="4297680"/>
            <a:ext cx="274320" cy="45720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062472" y="391363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6336792" y="38221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Shape 31"/>
          <p:cNvSpPr/>
          <p:nvPr/>
        </p:nvSpPr>
        <p:spPr>
          <a:xfrm>
            <a:off x="6199632" y="41879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6428232" y="42336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5" name="Shape 33"/>
          <p:cNvSpPr/>
          <p:nvPr/>
        </p:nvSpPr>
        <p:spPr>
          <a:xfrm>
            <a:off x="7616952" y="39593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7891272" y="38679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Shape 35"/>
          <p:cNvSpPr/>
          <p:nvPr/>
        </p:nvSpPr>
        <p:spPr>
          <a:xfrm>
            <a:off x="8074152" y="423367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7799832" y="427939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21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Credit card features were PCA-transformed prior to public release, preventing construction of a semantically grounded similarity graph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Medicare analysis used a sampled subset (6M of ~60M rows) due to memory constraints; hub-drug removal and neighborhood capping may have discarded informative edges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GNN experiments were single runs with a fixed random seed; performance variance across seeds was not measured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Tabular ML baselines were carried over from the companion BLG607 project rather than re-evaluated here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The marginal Medicare improvement (+0.95%) is below the threshold typically considered practically significant in deployed fraud detection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22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Graph-theoretic methods provide competitive fraud detection performance but do not uniformly outperform tabular approaches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Spectral clustering (AUC-ROC = 0.9221) was the strongest graph method on the credit card dataset, though it did not exceed the tabular GMM baseline (0.9588)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On Medicare, GCN (0.6139) and the Fiedler anomaly score (0.6096) narrowly surpassed all tabular methods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GNNs underperformed classical and spectral methods in both settings — attributable to sparse feature inputs, severe class imbalance, and graph construction quality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FFFFFF"/>
                </a:solidFill>
              </a:rPr>
              <a:t>Graph methods are most advantageous when graph construction encodes genuine domain knowledge about relational fraud behavior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23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Graph construction &gt; model complexity. </a:t>
            </a:r>
            <a:r>
              <a:rPr lang="en-US" sz="1400" dirty="0">
                <a:solidFill>
                  <a:srgbClr val="94A3B8"/>
                </a:solidFill>
              </a:rPr>
              <a:t>A semantically grounded edge definition (bipartite drug projection) outperforms a sophisticated GNN built on a generic K-NN graph.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Spectral methods are powerful baselines. </a:t>
            </a:r>
            <a:r>
              <a:rPr lang="en-US" sz="1400" dirty="0">
                <a:solidFill>
                  <a:srgbClr val="94A3B8"/>
                </a:solidFill>
              </a:rPr>
              <a:t>The Fiedler vector and spectral clustering consistently exceeded GNNs while requiring no training and fewer hyperparameters.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Community structure is real, but hard to exploit. </a:t>
            </a:r>
            <a:r>
              <a:rPr lang="en-US" sz="1400" dirty="0">
                <a:solidFill>
                  <a:srgbClr val="94A3B8"/>
                </a:solidFill>
              </a:rPr>
              <a:t>A 96.7% fraud-rate community was detected without any labels — yet supervised GNNs could not leverage this structure effectively.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28016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Graph methods add value in the relational domain. </a:t>
            </a:r>
            <a:r>
              <a:rPr lang="en-US" sz="1400" dirty="0">
                <a:solidFill>
                  <a:srgbClr val="94A3B8"/>
                </a:solidFill>
              </a:rPr>
              <a:t>For Medicare provider fraud, where relationships are semantically meaningful, a small but consistent improvement over tabular methods was observed.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24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5486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457200" y="149047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Kipf &amp; Welling (2017). </a:t>
            </a:r>
            <a:r>
              <a:rPr lang="en-US" sz="1400" dirty="0">
                <a:solidFill>
                  <a:srgbClr val="FFFFFF"/>
                </a:solidFill>
              </a:rPr>
              <a:t>Semi-Supervised Classification with GCN. </a:t>
            </a:r>
            <a:r>
              <a:rPr lang="en-US" sz="1400" i="1" dirty="0">
                <a:solidFill>
                  <a:srgbClr val="00D4FF"/>
                </a:solidFill>
              </a:rPr>
              <a:t>ICLR 2017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Hamilton, Ying &amp; Leskovec (2017). </a:t>
            </a:r>
            <a:r>
              <a:rPr lang="en-US" sz="1400" dirty="0">
                <a:solidFill>
                  <a:srgbClr val="FFFFFF"/>
                </a:solidFill>
              </a:rPr>
              <a:t>Inductive Representation Learning on Large Graphs. </a:t>
            </a:r>
            <a:r>
              <a:rPr lang="en-US" sz="1400" i="1" dirty="0">
                <a:solidFill>
                  <a:srgbClr val="00D4FF"/>
                </a:solidFill>
              </a:rPr>
              <a:t>NeurIPS 2017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1343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Veličković et al. (2018). </a:t>
            </a:r>
            <a:r>
              <a:rPr lang="en-US" sz="1400" dirty="0">
                <a:solidFill>
                  <a:srgbClr val="FFFFFF"/>
                </a:solidFill>
              </a:rPr>
              <a:t>Graph Attention Networks. </a:t>
            </a:r>
            <a:r>
              <a:rPr lang="en-US" sz="1400" i="1" dirty="0">
                <a:solidFill>
                  <a:srgbClr val="00D4FF"/>
                </a:solidFill>
              </a:rPr>
              <a:t>ICLR 2018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Ding et al. (2019). </a:t>
            </a:r>
            <a:r>
              <a:rPr lang="en-US" sz="1400" dirty="0">
                <a:solidFill>
                  <a:srgbClr val="FFFFFF"/>
                </a:solidFill>
              </a:rPr>
              <a:t>Deep Anomaly Detection on Attributed Networks. </a:t>
            </a:r>
            <a:r>
              <a:rPr lang="en-US" sz="1400" i="1" dirty="0">
                <a:solidFill>
                  <a:srgbClr val="00D4FF"/>
                </a:solidFill>
              </a:rPr>
              <a:t>SDM 2019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Blondel et al. (2008). </a:t>
            </a:r>
            <a:r>
              <a:rPr lang="en-US" sz="1400" dirty="0">
                <a:solidFill>
                  <a:srgbClr val="FFFFFF"/>
                </a:solidFill>
              </a:rPr>
              <a:t>Fast Unfolding of Communities in Large Networks. </a:t>
            </a:r>
            <a:r>
              <a:rPr lang="en-US" sz="1400" i="1" dirty="0">
                <a:solidFill>
                  <a:srgbClr val="00D4FF"/>
                </a:solidFill>
              </a:rPr>
              <a:t>J. Stat. Mech.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Fiedler (1973). </a:t>
            </a:r>
            <a:r>
              <a:rPr lang="en-US" sz="1400" dirty="0">
                <a:solidFill>
                  <a:srgbClr val="FFFFFF"/>
                </a:solidFill>
              </a:rPr>
              <a:t>Algebraic Connectivity of Graphs. </a:t>
            </a:r>
            <a:r>
              <a:rPr lang="en-US" sz="1400" i="1" dirty="0">
                <a:solidFill>
                  <a:srgbClr val="00D4FF"/>
                </a:solidFill>
              </a:rPr>
              <a:t>Czech. Math. J.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95935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73152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CMS (2022). </a:t>
            </a:r>
            <a:r>
              <a:rPr lang="en-US" sz="1400" dirty="0">
                <a:solidFill>
                  <a:srgbClr val="FFFFFF"/>
                </a:solidFill>
              </a:rPr>
              <a:t>Medicare Part D Prescribers by Provider and Drug. </a:t>
            </a:r>
            <a:r>
              <a:rPr lang="en-US" sz="1400" i="1" dirty="0">
                <a:solidFill>
                  <a:srgbClr val="00D4FF"/>
                </a:solidFill>
              </a:rPr>
              <a:t>CMS Open Data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37083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OIG (2023). </a:t>
            </a:r>
            <a:r>
              <a:rPr lang="en-US" sz="1400" dirty="0">
                <a:solidFill>
                  <a:srgbClr val="FFFFFF"/>
                </a:solidFill>
              </a:rPr>
              <a:t>List of Excluded Individuals and Entities (LEIE).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4B8A6"/>
                </a:solidFill>
              </a:rPr>
              <a:t>25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0972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results, source code, and notebooks available in the project repository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ULB Credit Card · CMS Medicare Part D · OIG LEIE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· PyTorch Geometric · SciPy · Scikit-learn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5623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94A3B8"/>
                </a:solidFill>
              </a:rPr>
              <a:t>Baha Kirbasoglu  ·  </a:t>
            </a:r>
            <a:r>
              <a:rPr lang="tr-TR" sz="1400" i="1" dirty="0">
                <a:solidFill>
                  <a:srgbClr val="94A3B8"/>
                </a:solidFill>
              </a:rPr>
              <a:t>BLG 549E </a:t>
            </a:r>
            <a:r>
              <a:rPr lang="en-US" sz="1400" i="1" dirty="0">
                <a:solidFill>
                  <a:srgbClr val="94A3B8"/>
                </a:solidFill>
              </a:rPr>
              <a:t>· Graduate Graph Theory  ·  May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1901</Words>
  <Application>Microsoft Office PowerPoint</Application>
  <PresentationFormat>Ekran Gösterisi (16:9)</PresentationFormat>
  <Paragraphs>306</Paragraphs>
  <Slides>26</Slides>
  <Notes>26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Baha KIRBASOGLU | PEAKUP</dc:creator>
  <cp:lastModifiedBy>Baha KIRBASOGLU | PEAKUP</cp:lastModifiedBy>
  <cp:revision>1</cp:revision>
  <dcterms:created xsi:type="dcterms:W3CDTF">2026-05-13T17:16:26Z</dcterms:created>
  <dcterms:modified xsi:type="dcterms:W3CDTF">2026-05-13T18:29:37Z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Teması:8</vt:lpwstr>
  </property>
  <property fmtid="{D5CDD505-2E9C-101B-9397-08002B2CF9AE}" pid="3" name="ClassificationContentMarkingFooterText">
    <vt:lpwstr>Internal</vt:lpwstr>
  </property>
</Properties>
</file>